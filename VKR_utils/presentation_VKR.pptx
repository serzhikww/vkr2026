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2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"/>
            <a:ext cx="146304" cy="471830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компьютерного зрения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обнаружения возгораний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камер видеонаблюдения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74720" y="2468880"/>
            <a:ext cx="219456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ПИ-41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80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Направление: 09.03.03 Прикладная информатика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ст. преподаватель кафедры прикладной информатики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РАБОТЫ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Пожары обнаруживаются слишком поздно — автоматизация необходима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1993392" cy="1261872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33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63677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пожаров в год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статистике МЧС России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450592" y="1042416"/>
            <a:ext cx="1993392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33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50592" y="163677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жертв гибнет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892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погибают от отравления дымом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626864" y="1042416"/>
            <a:ext cx="1993392" cy="1261872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133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 мин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26864" y="163677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датчика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892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тепловой датчик (обнаружение очага)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03136" y="1042416"/>
            <a:ext cx="1993392" cy="12618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1338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 мс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03136" y="163677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YOLO26s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8928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на кадре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8595360" cy="841248"/>
          </a:xfrm>
          <a:prstGeom prst="rect">
            <a:avLst/>
          </a:prstGeom>
          <a:solidFill>
            <a:srgbClr val="FDEBD0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87168"/>
            <a:ext cx="91440" cy="8412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23744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системы видеонаблюдения уже установлены на промышленных объектах. Применение нейронных сетей позволяет анализировать видеопоток непрерывно и выявлять признаки огня и дыма на начальной стадии — задолго до срабатывания стандартных датчиков.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20756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11296"/>
            <a:ext cx="64008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566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Видеопоток 24/7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" y="3877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IP-камеры уже везде — данные есть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2423160" y="3511296"/>
            <a:ext cx="2075688" cy="914400"/>
          </a:xfrm>
          <a:prstGeom prst="rect">
            <a:avLst/>
          </a:prstGeom>
          <a:solidFill>
            <a:srgbClr val="F0F3F8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23160" y="3511296"/>
            <a:ext cx="64008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566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не справляется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51176" y="3877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физически нельзя следить за 100+ экранами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572000" y="3511296"/>
            <a:ext cx="20756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511296"/>
            <a:ext cx="64008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3566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автоматизирует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016" y="3877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всех потоков одновременно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20840" y="3511296"/>
            <a:ext cx="2075688" cy="914400"/>
          </a:xfrm>
          <a:prstGeom prst="rect">
            <a:avLst/>
          </a:prstGeom>
          <a:solidFill>
            <a:srgbClr val="F0F3F8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20840" y="3511296"/>
            <a:ext cx="64008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8856" y="3566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оповещение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3877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решают — минимизация жертв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РАБОТЫ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603504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разработать программную систему автоматического обнаружения возгораний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записях и живых потоках камер видеонаблюдения на основе нейронной сети YOLO26s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35024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35024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35024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33502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алгоритмов детекции объектов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9696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39696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213969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D-Fire: 21 527 изображений (fire, smoke)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44368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44368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2944368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нейросетей YOLO26s/26m (GPU RTX 4060)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49040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49040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374904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FastAPI + Celery + Redis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1335024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1335024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335024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57216" y="133502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Веб-интерфейс: React 18 + Vite 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2139696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139696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139696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57216" y="213969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Хранение: MinIO (S3) + PostgreSQL 15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2944368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944368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944368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2944368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Контейнеризация: Docker Compose (6 сервисов)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81728" y="374904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81728" y="3749040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3749040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57216" y="374904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и нагрузочное тестирование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СРАВНЕНИЕ YOLO-МОДЕЛЕЙ — ВЫБОР YOLO26s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нейросетевых архитектур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828800"/>
                <a:gridCol w="13716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@0.5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 (RTX 4060)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модели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YOLO26s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 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МБ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Оптимальная модель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YOLO26m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МБ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Паритет с YOLO26s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 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МБ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Базовая линия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RT-DETR-L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 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МБ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Медленно, тяжело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9992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улучшения YOLO26 (Ultralytics, январь 2026):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3346704"/>
            <a:ext cx="1993392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346704"/>
            <a:ext cx="1993392" cy="6400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43814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4320" y="37581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детекция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Non-Max Suppression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50592" y="3346704"/>
            <a:ext cx="1993392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3346704"/>
            <a:ext cx="1993392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50592" y="343814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ProgLoss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50592" y="37581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Прогрессивный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 loss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26864" y="3346704"/>
            <a:ext cx="1993392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26864" y="3346704"/>
            <a:ext cx="1993392" cy="64008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6864" y="343814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26864" y="37581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Task-aligned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assignment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03136" y="3346704"/>
            <a:ext cx="1993392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C8D8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03136" y="3346704"/>
            <a:ext cx="1993392" cy="640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03136" y="343814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MuSGD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03136" y="37581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Оптимизатор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MuSGD (Manifold SGD)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D-FIRE — ОБУЧАЮЩИЕ ДАННЫЕ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D-Fire Dataset — открытый датасет для задачи детекции огня и дыма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2120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изображений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55264" y="100584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21 527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5212080" cy="420624"/>
          </a:xfrm>
          <a:prstGeom prst="rect">
            <a:avLst/>
          </a:prstGeom>
          <a:solidFill>
            <a:srgbClr val="F0F3F8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813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Класс: fire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55264" y="148132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ок. 14 000 изображений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52120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5681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Класс: smoke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55264" y="195681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ок. 9 000 изображений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5212080" cy="420624"/>
          </a:xfrm>
          <a:prstGeom prst="rect">
            <a:avLst/>
          </a:prstGeom>
          <a:solidFill>
            <a:srgbClr val="F0F3F8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4323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55264" y="243230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17 221 / 2 153 / 2 153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07792"/>
            <a:ext cx="52120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9077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разметки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55264" y="290779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TXT (нормализованные xywh)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5212080" cy="420624"/>
          </a:xfrm>
          <a:prstGeom prst="rect">
            <a:avLst/>
          </a:prstGeom>
          <a:solidFill>
            <a:srgbClr val="F0F3F8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3832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/ лицензия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55264" y="338328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6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датасет, без модификаций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50992" y="98755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из датасета (добавьте изображения):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50992" y="1261872"/>
            <a:ext cx="3310128" cy="1417320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50992" y="1261872"/>
            <a:ext cx="3310128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26187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изображение датасета: fire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50992" y="2761488"/>
            <a:ext cx="3310128" cy="1417320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50992" y="2761488"/>
            <a:ext cx="3310128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76148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изображение датасета: smoke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877056"/>
            <a:ext cx="5212080" cy="658368"/>
          </a:xfrm>
          <a:prstGeom prst="rect">
            <a:avLst/>
          </a:prstGeom>
          <a:solidFill>
            <a:srgbClr val="EAF7EE"/>
          </a:solidFill>
          <a:ln w="15240">
            <a:solidFill>
              <a:srgbClr val="1A7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1363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используется в исходном виде без модификаций.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Официальное разбиение train/val/test обеспечивает корректную оценку модели.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 — ДИАГРАММА КОНТЕЙНЕРОВ C4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Микросервисная архитектура из 6 контейнеров, Docker Compose</a:t>
            </a:r>
            <a:endParaRPr lang="en-US" sz="1500" dirty="0"/>
          </a:p>
        </p:txBody>
      </p:sp>
      <p:pic>
        <p:nvPicPr>
          <p:cNvPr id="5" name="Image 0" descr="/sessions/adoring-awesome-feynman/mnt/VKR2026/c4_contain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32688"/>
            <a:ext cx="868680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— ER-ДИАГРАММА POSTGRESQL 15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таблицы: videos  ·  detections  ·  detection_summaries</a:t>
            </a:r>
            <a:endParaRPr lang="en-US" sz="1500" dirty="0"/>
          </a:p>
        </p:txBody>
      </p:sp>
      <p:pic>
        <p:nvPicPr>
          <p:cNvPr id="5" name="Image 0" descr="/sessions/adoring-awesome-feynman/mnt/VKR2026/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32688"/>
            <a:ext cx="868680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 СИСТЕМЫ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стек разработки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5120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Нейронная сеть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Ultralytics YOLO26s · CUDA 12 · RTX 4060 (8 ГБ)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8595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91056"/>
            <a:ext cx="91440" cy="512064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910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591056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0.111 · Uvicorn · SQLAlchemy 2.x · asyncpg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8595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76272"/>
            <a:ext cx="91440" cy="5120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762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задач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5.3 · Redis 7 · Pub/Sub прогресса обработки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61488"/>
            <a:ext cx="8595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61488"/>
            <a:ext cx="91440" cy="512064"/>
          </a:xfrm>
          <a:prstGeom prst="rect">
            <a:avLst/>
          </a:prstGeom>
          <a:solidFill>
            <a:srgbClr val="1A8A72"/>
          </a:solidFill>
          <a:ln w="12700">
            <a:solidFill>
              <a:srgbClr val="1A8A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614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761488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(3 таблицы) · MinIO S3 (2 бакета, presigned URL)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46704"/>
            <a:ext cx="8595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46704"/>
            <a:ext cx="9144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3467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0" y="3346704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5 · react-router-dom v6 · axios · recharts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85953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31920"/>
            <a:ext cx="91440" cy="512064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319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0" y="393192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2.24 · 6 сервисов · healthcheck + depends_on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СИСТЕМЫ — ЗАГРУЗКА И ОБРАБОТКА ВИДЕО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457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21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649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видеофайла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8778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Выберите MP4/AVI или перетащите в браузер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457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1673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в очередь Celery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19019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передаётся Celery Worker через Redis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70048"/>
            <a:ext cx="457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в реальном времени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уведомляет о ходе обработки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694176"/>
            <a:ext cx="457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" y="3721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и скачивание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39502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с bounding boxes + статистика детекций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5968" y="603504"/>
            <a:ext cx="4681728" cy="4315968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603504"/>
            <a:ext cx="4681728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603504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главная страница — загрузка видео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СИСТЕМЫ — РЕЗУЛЬТАТЫ ДЕТЕКЦИИ ВОЗГОРАНИЯ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обработки видеофайла система отображает: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Видеоплеер с bounding boxes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591056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9961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уверенности по кадрам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084832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93392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кадров с огнём / дымом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78608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4871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обработки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072384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98094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обработанное видео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594360"/>
            <a:ext cx="4681728" cy="2103120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594360"/>
            <a:ext cx="4681728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594360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результат: видеоплеер + bounding boxes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0" y="2816352"/>
            <a:ext cx="4681728" cy="2103120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2816352"/>
            <a:ext cx="4681728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816352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статистика + график уверенности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RTSP-ПОТОКОВ В РЕАЛЬНОМ ВРЕМЕНИ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669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 IP-камер одновременно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RTSP-URL → MJPEG-стриминг в браузере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591056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9961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Детекция каждого кадра в реальном времени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084832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93392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Мгновенное оповещение при обнаружении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78608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48716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2x2: просмотр 4 камер одновременно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072384"/>
            <a:ext cx="914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98094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остановка потоков по отдельности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594360"/>
            <a:ext cx="2249424" cy="1664208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15968" y="594360"/>
            <a:ext cx="2249424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5943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RTSP камера 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56832" y="594360"/>
            <a:ext cx="2249424" cy="1664208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594360"/>
            <a:ext cx="2249424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5943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RTSP камера 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15968" y="2423160"/>
            <a:ext cx="2249424" cy="1664208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15968" y="2423160"/>
            <a:ext cx="2249424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4231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RTSP камера 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56832" y="2423160"/>
            <a:ext cx="2249424" cy="1664208"/>
          </a:xfrm>
          <a:prstGeom prst="rect">
            <a:avLst/>
          </a:prstGeom>
          <a:solidFill>
            <a:srgbClr val="E8EEF7"/>
          </a:solidFill>
          <a:ln w="19050">
            <a:solidFill>
              <a:srgbClr val="A0B4CC"/>
            </a:solidFill>
            <a:prstDash val="dash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56832" y="2423160"/>
            <a:ext cx="2249424" cy="347472"/>
          </a:xfrm>
          <a:prstGeom prst="rect">
            <a:avLst/>
          </a:prstGeom>
          <a:solidFill>
            <a:srgbClr val="C8D8EA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242316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скриншота: RTSP камера 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ТЕСТИРОВАНИЯ СИСТЕМЫ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и производительностное тестирование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9509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модели YOLO26s на тестовой выборке D-Fire: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43584"/>
          <a:ext cx="5394960" cy="155448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005840"/>
                <a:gridCol w="109728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907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Производительность:</a:t>
            </a:r>
            <a:endParaRPr lang="en-US" sz="10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5394960" cy="1554480"/>
        </p:xfrm>
        <a:graphic>
          <a:graphicData uri="http://schemas.openxmlformats.org/drawingml/2006/table">
            <a:tbl>
              <a:tblPr/>
              <a:tblGrid>
                <a:gridCol w="3474720"/>
                <a:gridCol w="1920240"/>
              </a:tblGrid>
              <a:tr h="259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68BD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 инференса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 FPS (RTX 4060)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Задержка на кадр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 мс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Обработка 1 мин 1080p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 сек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response time (P95)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мс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Одновременных RTSP потоков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852160" y="950976"/>
            <a:ext cx="31089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852160" y="950976"/>
            <a:ext cx="3108960" cy="402336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0" y="950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тестирования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0176" y="1499616"/>
            <a:ext cx="457200" cy="310896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80176" y="14996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492240" y="146304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функциональных тестов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5980176" y="2029968"/>
            <a:ext cx="457200" cy="310896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80176" y="20299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492240" y="199339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10 последовательных загрузок — утечки памяти не обнаружены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5980176" y="2560320"/>
            <a:ext cx="457200" cy="310896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80176" y="25603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6492240" y="2523744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Параллельный инференс 4 RTSP-потоков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5980176" y="3090672"/>
            <a:ext cx="457200" cy="310896"/>
          </a:xfrm>
          <a:prstGeom prst="rect">
            <a:avLst/>
          </a:prstGeom>
          <a:solidFill>
            <a:srgbClr val="1A7A3E"/>
          </a:solidFill>
          <a:ln w="12700">
            <a:solidFill>
              <a:srgbClr val="1A7A3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80176" y="3090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492240" y="3054096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Chrome, Firefox, Edge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5980176" y="3621024"/>
            <a:ext cx="457200" cy="31089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80176" y="36210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492240" y="3584448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fire детектируется хуже (mAP@50 = 0.74 vs 0.83 для smoke)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713232"/>
          </a:xfrm>
          <a:prstGeom prst="rect">
            <a:avLst/>
          </a:prstGeom>
          <a:solidFill>
            <a:srgbClr val="E8EE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457200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85953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сравнительный анализ методов детекции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133856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выбрана как оптимальная модель по точности и скорости (mAP@50 = 78.5%)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8631936" cy="713232"/>
          </a:xfrm>
          <a:prstGeom prst="rect">
            <a:avLst/>
          </a:prstGeom>
          <a:solidFill>
            <a:srgbClr val="E8EE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627632"/>
            <a:ext cx="457200" cy="713232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6276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" y="168249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полнофункциональная микросервисная система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956816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Celery · Redis · PostgreSQL · MinIO · React 18 · Docker Compose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450592"/>
            <a:ext cx="8631936" cy="713232"/>
          </a:xfrm>
          <a:prstGeom prst="rect">
            <a:avLst/>
          </a:prstGeom>
          <a:solidFill>
            <a:srgbClr val="E8EE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450592"/>
            <a:ext cx="457200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4505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250545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сеть YOLO26s обучена на датасете D-Fire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779776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0.785 на тестовой выборке; обнаружение fire и smoke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273552"/>
            <a:ext cx="8631936" cy="713232"/>
          </a:xfrm>
          <a:prstGeom prst="rect">
            <a:avLst/>
          </a:prstGeom>
          <a:solidFill>
            <a:srgbClr val="E8EE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273552"/>
            <a:ext cx="457200" cy="713232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7355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332841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современный веб-интерфейс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602736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видео, просмотр детекций с bbox, мониторинг 4 RTSP-потоков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096512"/>
            <a:ext cx="8631936" cy="713232"/>
          </a:xfrm>
          <a:prstGeom prst="rect">
            <a:avLst/>
          </a:prstGeom>
          <a:solidFill>
            <a:srgbClr val="E8EE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096512"/>
            <a:ext cx="457200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0965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4151376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протестирована и подтверждена работоспособность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4425696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функциональных тестов PASSED · производительность &gt;= 42 FPS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СИСТЕМЕ</a:t>
            </a:r>
            <a:endParaRPr lang="ru-RU" sz="95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575000"/>
            <a:ext cx="832104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— что делает система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|     </a:t>
            </a:r>
            <a:r>
              <a:rPr lang="ru-RU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Нефункциональные — как работает система</a:t>
            </a:r>
            <a:endParaRPr lang="ru-RU" sz="1100" dirty="0"/>
          </a:p>
        </p:txBody>
      </p:sp>
      <p:sp>
        <p:nvSpPr>
          <p:cNvPr id="6" name="Shape F1bg"/>
          <p:cNvSpPr/>
          <p:nvPr/>
        </p:nvSpPr>
        <p:spPr>
          <a:xfrm>
            <a:off x="274320" y="1220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F1mark"/>
          <p:cNvSpPr/>
          <p:nvPr/>
        </p:nvSpPr>
        <p:spPr>
          <a:xfrm>
            <a:off x="274320" y="1220000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8" name="Text F1"/>
          <p:cNvSpPr/>
          <p:nvPr/>
        </p:nvSpPr>
        <p:spPr>
          <a:xfrm>
            <a:off x="749808" y="1220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анализ видеофайлов</a:t>
            </a:r>
          </a:p>
        </p:txBody>
      </p:sp>
      <p:sp>
        <p:nvSpPr>
          <p:cNvPr id="10" name="Shape F2bg"/>
          <p:cNvSpPr/>
          <p:nvPr/>
        </p:nvSpPr>
        <p:spPr>
          <a:xfrm>
            <a:off x="274320" y="1988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F2mark"/>
          <p:cNvSpPr/>
          <p:nvPr/>
        </p:nvSpPr>
        <p:spPr>
          <a:xfrm>
            <a:off x="274320" y="1988000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2" name="Text F2"/>
          <p:cNvSpPr/>
          <p:nvPr/>
        </p:nvSpPr>
        <p:spPr>
          <a:xfrm>
            <a:off x="749808" y="1988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результатов детекции с bbox и статистикой</a:t>
            </a:r>
          </a:p>
        </p:txBody>
      </p:sp>
      <p:sp>
        <p:nvSpPr>
          <p:cNvPr id="14" name="Shape F3bg"/>
          <p:cNvSpPr/>
          <p:nvPr/>
        </p:nvSpPr>
        <p:spPr>
          <a:xfrm>
            <a:off x="274320" y="2756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F3mark"/>
          <p:cNvSpPr/>
          <p:nvPr/>
        </p:nvSpPr>
        <p:spPr>
          <a:xfrm>
            <a:off x="274320" y="2756000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16" name="Text F3"/>
          <p:cNvSpPr/>
          <p:nvPr/>
        </p:nvSpPr>
        <p:spPr>
          <a:xfrm>
            <a:off x="749808" y="2756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RTSP-потоков в реальном времени</a:t>
            </a:r>
          </a:p>
        </p:txBody>
      </p:sp>
      <p:sp>
        <p:nvSpPr>
          <p:cNvPr id="18" name="Shape F4bg"/>
          <p:cNvSpPr/>
          <p:nvPr/>
        </p:nvSpPr>
        <p:spPr>
          <a:xfrm>
            <a:off x="274320" y="3524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F4mark"/>
          <p:cNvSpPr/>
          <p:nvPr/>
        </p:nvSpPr>
        <p:spPr>
          <a:xfrm>
            <a:off x="274320" y="3524000"/>
            <a:ext cx="420624" cy="658368"/>
          </a:xfrm>
          <a:prstGeom prst="rect">
            <a:avLst/>
          </a:prstGeom>
          <a:solidFill>
            <a:srgbClr val="1168BD"/>
          </a:solidFill>
          <a:ln w="12700">
            <a:solidFill>
              <a:srgbClr val="1168BD"/>
            </a:solidFill>
            <a:prstDash val="solid"/>
          </a:ln>
        </p:spPr>
      </p:sp>
      <p:sp>
        <p:nvSpPr>
          <p:cNvPr id="20" name="Text F4"/>
          <p:cNvSpPr/>
          <p:nvPr/>
        </p:nvSpPr>
        <p:spPr>
          <a:xfrm>
            <a:off x="749808" y="3524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видео с bbox и просмотр статистики</a:t>
            </a:r>
          </a:p>
        </p:txBody>
      </p:sp>
      <p:sp>
        <p:nvSpPr>
          <p:cNvPr id="22" name="Shape N1bg"/>
          <p:cNvSpPr/>
          <p:nvPr/>
        </p:nvSpPr>
        <p:spPr>
          <a:xfrm>
            <a:off x="4681728" y="1220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N1mark"/>
          <p:cNvSpPr/>
          <p:nvPr/>
        </p:nvSpPr>
        <p:spPr>
          <a:xfrm>
            <a:off x="4681728" y="1220000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N1"/>
          <p:cNvSpPr/>
          <p:nvPr/>
        </p:nvSpPr>
        <p:spPr>
          <a:xfrm>
            <a:off x="5157216" y="1220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Производительность: ≥ 42 FPS, &lt; 25 мс/кадр</a:t>
            </a:r>
          </a:p>
        </p:txBody>
      </p:sp>
      <p:sp>
        <p:nvSpPr>
          <p:cNvPr id="26" name="Shape N2bg"/>
          <p:cNvSpPr/>
          <p:nvPr/>
        </p:nvSpPr>
        <p:spPr>
          <a:xfrm>
            <a:off x="4681728" y="1988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N2mark"/>
          <p:cNvSpPr/>
          <p:nvPr/>
        </p:nvSpPr>
        <p:spPr>
          <a:xfrm>
            <a:off x="4681728" y="1988000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N2"/>
          <p:cNvSpPr/>
          <p:nvPr/>
        </p:nvSpPr>
        <p:spPr>
          <a:xfrm>
            <a:off x="5157216" y="1988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Точность: mAP@0.5 ≥ 0.785 на D-Fire</a:t>
            </a:r>
          </a:p>
        </p:txBody>
      </p:sp>
      <p:sp>
        <p:nvSpPr>
          <p:cNvPr id="30" name="Shape N3bg"/>
          <p:cNvSpPr/>
          <p:nvPr/>
        </p:nvSpPr>
        <p:spPr>
          <a:xfrm>
            <a:off x="4681728" y="2756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N3mark"/>
          <p:cNvSpPr/>
          <p:nvPr/>
        </p:nvSpPr>
        <p:spPr>
          <a:xfrm>
            <a:off x="4681728" y="2756000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N3"/>
          <p:cNvSpPr/>
          <p:nvPr/>
        </p:nvSpPr>
        <p:spPr>
          <a:xfrm>
            <a:off x="5157216" y="2756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Надёжность: стабильная работа, без утечек памяти</a:t>
            </a:r>
          </a:p>
        </p:txBody>
      </p:sp>
      <p:sp>
        <p:nvSpPr>
          <p:cNvPr id="34" name="Shape N4bg"/>
          <p:cNvSpPr/>
          <p:nvPr/>
        </p:nvSpPr>
        <p:spPr>
          <a:xfrm>
            <a:off x="4681728" y="3524000"/>
            <a:ext cx="427939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N4mark"/>
          <p:cNvSpPr/>
          <p:nvPr/>
        </p:nvSpPr>
        <p:spPr>
          <a:xfrm>
            <a:off x="4681728" y="3524000"/>
            <a:ext cx="420624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N4"/>
          <p:cNvSpPr/>
          <p:nvPr/>
        </p:nvSpPr>
        <p:spPr>
          <a:xfrm>
            <a:off x="5157216" y="352400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Переносимость: Docker Compose, любые RTSP IP-камеры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Система детекции возгораний</dc:title>
  <dc:subject>PptxGenJS Presentation</dc:subject>
  <dc:creator>PptxGenJS</dc:creator>
  <cp:lastModifiedBy>PptxGenJS</cp:lastModifiedBy>
  <cp:revision>1</cp:revision>
  <dcterms:created xsi:type="dcterms:W3CDTF">2026-04-28T15:54:14Z</dcterms:created>
  <dcterms:modified xsi:type="dcterms:W3CDTF">2026-04-28T15:54:14Z</dcterms:modified>
</cp:coreProperties>
</file>